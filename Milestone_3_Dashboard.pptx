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7B40"/>
    <a:srgbClr val="EB85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1" autoAdjust="0"/>
    <p:restoredTop sz="94660"/>
  </p:normalViewPr>
  <p:slideViewPr>
    <p:cSldViewPr snapToGrid="0">
      <p:cViewPr varScale="1">
        <p:scale>
          <a:sx n="76" d="100"/>
          <a:sy n="76" d="100"/>
        </p:scale>
        <p:origin x="13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06D2A-7A35-62F3-C9DF-032555BD2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D788FB-862B-A7C5-AADC-46D2F1C9A3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84A6D-B1F2-A367-1B41-2FD2A0193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F632-65F1-4E65-BA99-A463D827442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955FA-FCBF-580E-F69E-0E2C7246F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C59E8-0E02-4B46-AA0C-79A2303BD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854A-6F89-4E0F-93CB-6DF6C6E60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237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2F5D4-4FCC-9A3A-4B4D-FBAD391D7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F3F36-861B-1942-41C3-943C25756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DD774-9E13-1CE8-0554-EBB82292A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F632-65F1-4E65-BA99-A463D827442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61CCC-82E8-E324-89EB-E3DDEF116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53641-7218-7BC9-8356-819F3E42F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854A-6F89-4E0F-93CB-6DF6C6E60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310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4DB0B-B45A-B724-8565-1DF1249C3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CF38B-A387-A902-40D8-D3D74A805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273ED-8A43-B586-4957-DE18C96CF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F632-65F1-4E65-BA99-A463D827442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3B9AC-05B2-FA94-7DE9-8C5B8F7E2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F42F5-A16F-4B0B-342F-CEB72543A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854A-6F89-4E0F-93CB-6DF6C6E60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62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7894F-0236-8A95-31C6-0EE1F6E04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B4DDA-D3FB-4234-4445-3769099B20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B294AE-2C80-11CE-7937-B346D9F8C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D52BB-8D67-C127-CEF9-C1331B0D2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F632-65F1-4E65-BA99-A463D827442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CE3AA-C8B1-7422-6515-8C4457A74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2F8ED-1B58-D1FD-6A8E-3CF6C2ECB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854A-6F89-4E0F-93CB-6DF6C6E60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158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D7BD9-A862-DBA4-A772-6EA384E1E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1B6ACE-E7C9-B332-7EDD-5D66AD857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E22A4F-4E3E-5A74-9AF5-796152DD2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C83A02-6796-3CE6-B58D-29CC0879D1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22D05C-9F0D-9C53-1729-FAD8FE1C5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0EC47D-DA11-5F39-1DBB-07137E2DD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F632-65F1-4E65-BA99-A463D827442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92FA59-9B54-ECD9-AB09-3249A4F8B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507ED4-F667-B751-7DD0-7DC51A5ED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854A-6F89-4E0F-93CB-6DF6C6E60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959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039C8-4B11-3277-87BF-2704366C1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A93552-F41C-9360-0223-361DD48EF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F632-65F1-4E65-BA99-A463D827442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33A74F-8E24-0F1C-9D73-70C28824F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52D15A-BE22-86EC-2208-5A56801E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854A-6F89-4E0F-93CB-6DF6C6E60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787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A7B6E2-437A-A64D-E559-17C58D7AF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F632-65F1-4E65-BA99-A463D827442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B9592A-308B-EA38-A911-BD50E342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8F861-96FA-0713-C4CE-7A3856D37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854A-6F89-4E0F-93CB-6DF6C6E60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7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94D02-C1C4-4311-0C6D-17262013D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33D25-407F-C9D8-B291-02A0184BE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BAE67-B2CD-2CCC-F88F-C4F911D98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81E72-F6B1-24FF-6208-BDD30700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F632-65F1-4E65-BA99-A463D827442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FB7DB4-32F2-C5F6-1F45-3D56A5949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4D00CF-A933-65BB-999E-083D2E8A2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854A-6F89-4E0F-93CB-6DF6C6E60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413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BA699-3273-62C4-0227-70E234EE5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4CF44E-CC0F-6ADB-B0D2-19FFE285A2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252C6-6E24-0D73-A1FC-AA01615A8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CF71F0-E58E-57B6-A7AC-9CA120D02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F632-65F1-4E65-BA99-A463D827442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EDAB80-B5E6-E831-F4A1-D73CD9226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B2F3F-7576-7919-7760-F29F1EF98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854A-6F89-4E0F-93CB-6DF6C6E60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8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16AAC-69BA-8E90-DB6E-68DE22D39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8AC9BD-2E43-3B34-21AD-0B7AEC2E0F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CC6B5-0EAA-AF47-AE87-ADB63D61C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F632-65F1-4E65-BA99-A463D827442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5B9AA-7892-9F49-4C01-F02ADEA79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2EA07-91FA-9DB9-FA8B-546D4E83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854A-6F89-4E0F-93CB-6DF6C6E60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107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C7743D-7259-933F-CA40-38FBA8DBC0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83B87B-4F12-AC2A-2195-3598716A1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98078-37CC-093B-C0AF-700B091AC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F632-65F1-4E65-BA99-A463D827442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C7C1E-4722-2DDC-B577-C35F898E7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06206-2FFA-3DCD-BAA2-D4C1EB36A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854A-6F89-4E0F-93CB-6DF6C6E60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640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86ED3-1F34-A6CD-3A71-77663AA58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46A57-6273-8042-B7B6-49F323D62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D74FA-A153-4E59-276B-E8D4C8EE5C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62F632-65F1-4E65-BA99-A463D827442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981FD-F5DD-1CA0-D9DB-8B211242E7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F6892-4664-44A9-5148-CA5C42E4C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7E854A-6F89-4E0F-93CB-6DF6C6E60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149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059DB45-EABE-9DDD-0DE5-2BEA1E6011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7B4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A115CD9-9C10-C0BC-1345-26A69E4A9256}"/>
              </a:ext>
            </a:extLst>
          </p:cNvPr>
          <p:cNvSpPr/>
          <p:nvPr/>
        </p:nvSpPr>
        <p:spPr>
          <a:xfrm>
            <a:off x="169653" y="133710"/>
            <a:ext cx="11852695" cy="6590581"/>
          </a:xfrm>
          <a:prstGeom prst="roundRect">
            <a:avLst/>
          </a:prstGeom>
          <a:solidFill>
            <a:schemeClr val="bg1"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ED6E4F-2D1B-7E50-729C-872282712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247"/>
            <a:ext cx="10515600" cy="94609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Childcare Cost and Affordability Overview (U.S.)</a:t>
            </a:r>
            <a:b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Comparing cost differences across states, care types, and age groups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E2A7EC-289B-8563-E3CE-EA35B5726BA4}"/>
              </a:ext>
            </a:extLst>
          </p:cNvPr>
          <p:cNvCxnSpPr>
            <a:cxnSpLocks/>
          </p:cNvCxnSpPr>
          <p:nvPr/>
        </p:nvCxnSpPr>
        <p:spPr>
          <a:xfrm>
            <a:off x="669266" y="1069671"/>
            <a:ext cx="10853468" cy="0"/>
          </a:xfrm>
          <a:prstGeom prst="line">
            <a:avLst/>
          </a:prstGeom>
          <a:ln w="508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F39C901-6F94-A1BB-45FB-06DE61D952B5}"/>
              </a:ext>
            </a:extLst>
          </p:cNvPr>
          <p:cNvGrpSpPr/>
          <p:nvPr/>
        </p:nvGrpSpPr>
        <p:grpSpPr>
          <a:xfrm>
            <a:off x="226381" y="1226271"/>
            <a:ext cx="2184558" cy="1160602"/>
            <a:chOff x="226381" y="1226271"/>
            <a:chExt cx="2184558" cy="116060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BF34E3C-31E4-923B-3947-6E5690FC6F7C}"/>
                </a:ext>
              </a:extLst>
            </p:cNvPr>
            <p:cNvSpPr/>
            <p:nvPr/>
          </p:nvSpPr>
          <p:spPr>
            <a:xfrm>
              <a:off x="230524" y="1282698"/>
              <a:ext cx="2176272" cy="110417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0F640AE-D793-0154-DE58-96E8DF4B30CA}"/>
                </a:ext>
              </a:extLst>
            </p:cNvPr>
            <p:cNvCxnSpPr>
              <a:cxnSpLocks/>
            </p:cNvCxnSpPr>
            <p:nvPr/>
          </p:nvCxnSpPr>
          <p:spPr>
            <a:xfrm>
              <a:off x="226381" y="1775265"/>
              <a:ext cx="218455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15C28FB-C98B-07EA-84E2-5622F5833E0D}"/>
                </a:ext>
              </a:extLst>
            </p:cNvPr>
            <p:cNvSpPr txBox="1"/>
            <p:nvPr/>
          </p:nvSpPr>
          <p:spPr>
            <a:xfrm>
              <a:off x="231653" y="1226271"/>
              <a:ext cx="2174014" cy="523220"/>
            </a:xfrm>
            <a:prstGeom prst="rect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Avg Weekly Cost (Center-Based)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272D2A1-B591-DB1D-3C21-6761A6EDE1CF}"/>
                </a:ext>
              </a:extLst>
            </p:cNvPr>
            <p:cNvSpPr txBox="1"/>
            <p:nvPr/>
          </p:nvSpPr>
          <p:spPr>
            <a:xfrm>
              <a:off x="697558" y="1900802"/>
              <a:ext cx="12422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~$133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531DFA7-6C8A-5A1D-9DDC-D6ACA9C6A2B7}"/>
              </a:ext>
            </a:extLst>
          </p:cNvPr>
          <p:cNvGrpSpPr/>
          <p:nvPr/>
        </p:nvGrpSpPr>
        <p:grpSpPr>
          <a:xfrm>
            <a:off x="2516275" y="1226271"/>
            <a:ext cx="2184558" cy="1160602"/>
            <a:chOff x="2541771" y="1226271"/>
            <a:chExt cx="2184558" cy="116060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FF38735-7DE9-DAC0-5F7F-E8CF9F93ABB2}"/>
                </a:ext>
              </a:extLst>
            </p:cNvPr>
            <p:cNvSpPr/>
            <p:nvPr/>
          </p:nvSpPr>
          <p:spPr>
            <a:xfrm>
              <a:off x="2545914" y="1282698"/>
              <a:ext cx="2176272" cy="110417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808C246-96EE-FA7C-9AA2-3D8B8AEF2229}"/>
                </a:ext>
              </a:extLst>
            </p:cNvPr>
            <p:cNvCxnSpPr>
              <a:cxnSpLocks/>
            </p:cNvCxnSpPr>
            <p:nvPr/>
          </p:nvCxnSpPr>
          <p:spPr>
            <a:xfrm>
              <a:off x="2541771" y="1775265"/>
              <a:ext cx="218455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4283B09-59D2-0FEA-754D-629397D15BF5}"/>
                </a:ext>
              </a:extLst>
            </p:cNvPr>
            <p:cNvSpPr txBox="1"/>
            <p:nvPr/>
          </p:nvSpPr>
          <p:spPr>
            <a:xfrm>
              <a:off x="2547043" y="1226271"/>
              <a:ext cx="2174014" cy="523220"/>
            </a:xfrm>
            <a:prstGeom prst="rect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Avg Weekly Cost </a:t>
              </a:r>
            </a:p>
            <a:p>
              <a:pPr algn="ctr"/>
              <a:r>
                <a:rPr lang="en-US" sz="1400" b="1" dirty="0"/>
                <a:t>(Family Daycare)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6744D40-85B1-27AD-BC34-EFE805F9D0E7}"/>
                </a:ext>
              </a:extLst>
            </p:cNvPr>
            <p:cNvSpPr txBox="1"/>
            <p:nvPr/>
          </p:nvSpPr>
          <p:spPr>
            <a:xfrm>
              <a:off x="3012948" y="1900802"/>
              <a:ext cx="12422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~$108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B717075-C0DC-B937-E922-11FBCD026711}"/>
              </a:ext>
            </a:extLst>
          </p:cNvPr>
          <p:cNvGrpSpPr/>
          <p:nvPr/>
        </p:nvGrpSpPr>
        <p:grpSpPr>
          <a:xfrm>
            <a:off x="7431108" y="1226271"/>
            <a:ext cx="2184558" cy="1216172"/>
            <a:chOff x="7424147" y="1226271"/>
            <a:chExt cx="2184558" cy="121617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FE6DAF-64D7-FBBA-B6FF-D4A6F2852284}"/>
                </a:ext>
              </a:extLst>
            </p:cNvPr>
            <p:cNvSpPr/>
            <p:nvPr/>
          </p:nvSpPr>
          <p:spPr>
            <a:xfrm>
              <a:off x="7428290" y="1282698"/>
              <a:ext cx="2176272" cy="110417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E039B4E-86E0-9E56-EEDA-030231ABEF8B}"/>
                </a:ext>
              </a:extLst>
            </p:cNvPr>
            <p:cNvCxnSpPr>
              <a:cxnSpLocks/>
            </p:cNvCxnSpPr>
            <p:nvPr/>
          </p:nvCxnSpPr>
          <p:spPr>
            <a:xfrm>
              <a:off x="7424147" y="1775265"/>
              <a:ext cx="218455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9932528-478D-F7F5-4D35-F7718E4F65B7}"/>
                </a:ext>
              </a:extLst>
            </p:cNvPr>
            <p:cNvSpPr txBox="1"/>
            <p:nvPr/>
          </p:nvSpPr>
          <p:spPr>
            <a:xfrm>
              <a:off x="7429419" y="1226271"/>
              <a:ext cx="2174014" cy="523220"/>
            </a:xfrm>
            <a:prstGeom prst="rect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Highest Cost State (Family Daycare)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1DA06E8-01E3-4BA3-EA79-47DA7B002790}"/>
                </a:ext>
              </a:extLst>
            </p:cNvPr>
            <p:cNvSpPr txBox="1"/>
            <p:nvPr/>
          </p:nvSpPr>
          <p:spPr>
            <a:xfrm>
              <a:off x="7501447" y="1734557"/>
              <a:ext cx="202995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Massachusetts </a:t>
              </a:r>
              <a:br>
                <a:rPr lang="en-US" sz="2000" b="1" dirty="0"/>
              </a:br>
              <a:r>
                <a:rPr lang="en-US" sz="2000" b="1" dirty="0"/>
                <a:t>~$270/Week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7873CA2-FD62-C13D-4C4F-297E0086D2A0}"/>
              </a:ext>
            </a:extLst>
          </p:cNvPr>
          <p:cNvGrpSpPr/>
          <p:nvPr/>
        </p:nvGrpSpPr>
        <p:grpSpPr>
          <a:xfrm>
            <a:off x="9721001" y="1226271"/>
            <a:ext cx="2184558" cy="1216172"/>
            <a:chOff x="9721001" y="1226271"/>
            <a:chExt cx="2184558" cy="121617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5FDAC9A-A7D9-0EE6-859F-E9ACB82C98D8}"/>
                </a:ext>
              </a:extLst>
            </p:cNvPr>
            <p:cNvSpPr/>
            <p:nvPr/>
          </p:nvSpPr>
          <p:spPr>
            <a:xfrm>
              <a:off x="9725144" y="1282698"/>
              <a:ext cx="2176272" cy="110417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45AE08-B9B8-AD7B-6467-6B69608E0162}"/>
                </a:ext>
              </a:extLst>
            </p:cNvPr>
            <p:cNvCxnSpPr>
              <a:cxnSpLocks/>
            </p:cNvCxnSpPr>
            <p:nvPr/>
          </p:nvCxnSpPr>
          <p:spPr>
            <a:xfrm>
              <a:off x="9721001" y="1775265"/>
              <a:ext cx="218455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BE939E8-5C40-3DBA-93F1-5EE97AF2BC84}"/>
                </a:ext>
              </a:extLst>
            </p:cNvPr>
            <p:cNvSpPr txBox="1"/>
            <p:nvPr/>
          </p:nvSpPr>
          <p:spPr>
            <a:xfrm>
              <a:off x="9726273" y="1226271"/>
              <a:ext cx="2174014" cy="523220"/>
            </a:xfrm>
            <a:prstGeom prst="rect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Lowest Cost State (Family Daycare)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438D128-9970-B5DF-9C04-2C63286563F7}"/>
                </a:ext>
              </a:extLst>
            </p:cNvPr>
            <p:cNvSpPr txBox="1"/>
            <p:nvPr/>
          </p:nvSpPr>
          <p:spPr>
            <a:xfrm>
              <a:off x="9736339" y="1734557"/>
              <a:ext cx="215388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Mississippi</a:t>
              </a:r>
              <a:br>
                <a:rPr lang="en-US" sz="2000" b="1" dirty="0"/>
              </a:br>
              <a:r>
                <a:rPr lang="en-US" sz="2000" b="1" dirty="0"/>
                <a:t>~$70/Week</a:t>
              </a: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C7D8184-E726-8CD5-E67B-F7E97E16CFCC}"/>
              </a:ext>
            </a:extLst>
          </p:cNvPr>
          <p:cNvCxnSpPr>
            <a:cxnSpLocks/>
          </p:cNvCxnSpPr>
          <p:nvPr/>
        </p:nvCxnSpPr>
        <p:spPr>
          <a:xfrm>
            <a:off x="669266" y="2550537"/>
            <a:ext cx="10853468" cy="0"/>
          </a:xfrm>
          <a:prstGeom prst="line">
            <a:avLst/>
          </a:prstGeom>
          <a:ln w="508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Title 1">
            <a:extLst>
              <a:ext uri="{FF2B5EF4-FFF2-40B4-BE49-F238E27FC236}">
                <a16:creationId xmlns:a16="http://schemas.microsoft.com/office/drawing/2014/main" id="{33868ED8-96EC-942D-C2C3-4F61B9D59CAB}"/>
              </a:ext>
            </a:extLst>
          </p:cNvPr>
          <p:cNvSpPr txBox="1">
            <a:spLocks/>
          </p:cNvSpPr>
          <p:nvPr/>
        </p:nvSpPr>
        <p:spPr>
          <a:xfrm>
            <a:off x="838200" y="2459855"/>
            <a:ext cx="10515600" cy="7754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Childcare Costs Vary Widely Across States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C5A6E21-BD99-3145-335C-09789E3530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95818" y="3173778"/>
            <a:ext cx="5959701" cy="252593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2741DCE-B4FD-A817-DC5F-886A59FFE9BF}"/>
              </a:ext>
            </a:extLst>
          </p:cNvPr>
          <p:cNvSpPr txBox="1">
            <a:spLocks/>
          </p:cNvSpPr>
          <p:nvPr/>
        </p:nvSpPr>
        <p:spPr>
          <a:xfrm>
            <a:off x="3303736" y="5804934"/>
            <a:ext cx="5569152" cy="7754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/>
              <a:t>Higher-cost states create uneven </a:t>
            </a:r>
          </a:p>
          <a:p>
            <a:pPr algn="ctr"/>
            <a:r>
              <a:rPr lang="en-US" sz="2000" b="1" dirty="0"/>
              <a:t>financial burden across regions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BFD0C7-319C-7262-3EE0-88ACA7357CD5}"/>
              </a:ext>
            </a:extLst>
          </p:cNvPr>
          <p:cNvSpPr txBox="1"/>
          <p:nvPr/>
        </p:nvSpPr>
        <p:spPr>
          <a:xfrm>
            <a:off x="276041" y="4811186"/>
            <a:ext cx="2656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Costs decrease slightly as children age but remain a significant weekly expense across all groups.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36ACFF-0A6A-282D-94EF-E8544E16156A}"/>
              </a:ext>
            </a:extLst>
          </p:cNvPr>
          <p:cNvSpPr txBox="1"/>
          <p:nvPr/>
        </p:nvSpPr>
        <p:spPr>
          <a:xfrm>
            <a:off x="9055519" y="4811186"/>
            <a:ext cx="28259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/>
              <a:t>Center-Based care is regularly more expensive than Family Daycare, increasing overall cost burden for families.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5037DA-7135-7ED4-83E1-83101241DA32}"/>
              </a:ext>
            </a:extLst>
          </p:cNvPr>
          <p:cNvSpPr txBox="1"/>
          <p:nvPr/>
        </p:nvSpPr>
        <p:spPr>
          <a:xfrm>
            <a:off x="4806169" y="1226271"/>
            <a:ext cx="2519603" cy="1169551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750" b="1" i="1">
                <a:ln w="0"/>
                <a:solidFill>
                  <a:schemeClr val="tx1"/>
                </a:solidFill>
              </a:rPr>
              <a:t>Center-Based </a:t>
            </a:r>
            <a:r>
              <a:rPr lang="en-US" sz="1750" b="1" i="1" dirty="0">
                <a:ln w="0"/>
                <a:solidFill>
                  <a:schemeClr val="tx1"/>
                </a:solidFill>
              </a:rPr>
              <a:t>care costs ~20-25% more </a:t>
            </a:r>
          </a:p>
          <a:p>
            <a:pPr algn="ctr"/>
            <a:r>
              <a:rPr lang="en-US" sz="1750" b="1" i="1" dirty="0">
                <a:ln w="0"/>
                <a:solidFill>
                  <a:schemeClr val="tx1"/>
                </a:solidFill>
              </a:rPr>
              <a:t>per week than </a:t>
            </a:r>
          </a:p>
          <a:p>
            <a:pPr algn="ctr"/>
            <a:r>
              <a:rPr lang="en-US" sz="1750" b="1" i="1" dirty="0">
                <a:ln w="0"/>
                <a:solidFill>
                  <a:schemeClr val="tx1"/>
                </a:solidFill>
              </a:rPr>
              <a:t>Family Daycare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D3E474-7BFA-6B2A-DF1E-E789D0264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3081777"/>
            <a:ext cx="2606040" cy="171349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4D17199-3B1E-8FC4-BCA4-478043894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4" y="3083560"/>
            <a:ext cx="2396226" cy="170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882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154</TotalTime>
  <Words>125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Childcare Cost and Affordability Overview (U.S.) Comparing cost differences across states, care types, and age groups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Teresa Ferrill</dc:creator>
  <cp:lastModifiedBy>Teresa Ferrill</cp:lastModifiedBy>
  <cp:revision>14</cp:revision>
  <dcterms:created xsi:type="dcterms:W3CDTF">2026-04-22T22:02:25Z</dcterms:created>
  <dcterms:modified xsi:type="dcterms:W3CDTF">2026-05-26T16:07:36Z</dcterms:modified>
</cp:coreProperties>
</file>