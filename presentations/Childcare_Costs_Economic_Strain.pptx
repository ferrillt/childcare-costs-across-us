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8541"/>
    <a:srgbClr val="E74A58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54" d="100"/>
          <a:sy n="54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208CF-A7E4-4DF0-9924-69D11687DEF3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35EAA-6F32-4E54-AB55-4A73B32C4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3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35EAA-6F32-4E54-AB55-4A73B32C48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27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02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9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13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4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8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12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5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23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4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2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5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F181B-F9AE-4285-B45D-8CFC24112EA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45100-496D-4E36-8A7F-32E4C82A4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6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l.gov/" TargetMode="External"/><Relationship Id="rId2" Type="http://schemas.openxmlformats.org/officeDocument/2006/relationships/hyperlink" Target="https://www.childcareaware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F07CF2-ABAD-CD4C-4A8F-FB4FB326B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127" y="1725074"/>
            <a:ext cx="8649001" cy="48842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8232D46-69B8-7388-C4AD-FF3606AB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4" y="300957"/>
            <a:ext cx="11586453" cy="1325563"/>
          </a:xfrm>
          <a:solidFill>
            <a:srgbClr val="EB8541"/>
          </a:solidFill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Childcare Costs and Economic Strain </a:t>
            </a:r>
            <a:b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 U.S. States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8042F-8DD9-2A66-2BC8-ABDE7A47B094}"/>
              </a:ext>
            </a:extLst>
          </p:cNvPr>
          <p:cNvSpPr txBox="1"/>
          <p:nvPr/>
        </p:nvSpPr>
        <p:spPr>
          <a:xfrm>
            <a:off x="-47252" y="2335939"/>
            <a:ext cx="342498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Teresa Ferrill</a:t>
            </a:r>
          </a:p>
          <a:p>
            <a:pPr algn="ctr"/>
            <a:endParaRPr lang="en-US" sz="3200" b="1" i="1" dirty="0"/>
          </a:p>
          <a:p>
            <a:pPr algn="ctr"/>
            <a:r>
              <a:rPr lang="en-US" sz="3200" b="1" i="1" dirty="0"/>
              <a:t>DSC 640 Data Presentation and Visualization</a:t>
            </a:r>
          </a:p>
          <a:p>
            <a:pPr algn="ctr"/>
            <a:endParaRPr lang="en-US" sz="3200" b="1" i="1" dirty="0"/>
          </a:p>
          <a:p>
            <a:pPr algn="ctr"/>
            <a:r>
              <a:rPr lang="en-US" sz="2800" b="1" dirty="0"/>
              <a:t>April 26,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673050-F800-F00B-276B-71B02C83CB7C}"/>
              </a:ext>
            </a:extLst>
          </p:cNvPr>
          <p:cNvSpPr/>
          <p:nvPr/>
        </p:nvSpPr>
        <p:spPr>
          <a:xfrm>
            <a:off x="6215442" y="4908884"/>
            <a:ext cx="5270705" cy="1347537"/>
          </a:xfrm>
          <a:prstGeom prst="rect">
            <a:avLst/>
          </a:prstGeom>
          <a:solidFill>
            <a:srgbClr val="EB8541"/>
          </a:solidFill>
          <a:ln>
            <a:solidFill>
              <a:srgbClr val="EB8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Understanding cost differences and their impact on affordability</a:t>
            </a:r>
          </a:p>
        </p:txBody>
      </p:sp>
    </p:spTree>
    <p:extLst>
      <p:ext uri="{BB962C8B-B14F-4D97-AF65-F5344CB8AC3E}">
        <p14:creationId xmlns:p14="http://schemas.microsoft.com/office/powerpoint/2010/main" val="2864188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6648-02FA-820A-8329-5183246A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4557B1-B836-E11B-0B29-086B1BBCF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66964" y="1759279"/>
            <a:ext cx="4177787" cy="4531071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B92B6-E44D-DF24-2CC9-73090C909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01" y="1813066"/>
            <a:ext cx="7315434" cy="4351338"/>
          </a:xfrm>
        </p:spPr>
        <p:txBody>
          <a:bodyPr>
            <a:normAutofit/>
          </a:bodyPr>
          <a:lstStyle/>
          <a:p>
            <a:r>
              <a:rPr lang="en-US" sz="4400" dirty="0"/>
              <a:t>Childcare is a major household expense</a:t>
            </a:r>
          </a:p>
          <a:p>
            <a:r>
              <a:rPr lang="en-US" sz="4400" dirty="0"/>
              <a:t>That Varies Widely</a:t>
            </a:r>
          </a:p>
          <a:p>
            <a:r>
              <a:rPr lang="en-US" sz="4400" dirty="0"/>
              <a:t>Can impact workforce participation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D8B6CC-4C10-406A-6851-0EF237167B3B}"/>
              </a:ext>
            </a:extLst>
          </p:cNvPr>
          <p:cNvSpPr txBox="1">
            <a:spLocks/>
          </p:cNvSpPr>
          <p:nvPr/>
        </p:nvSpPr>
        <p:spPr>
          <a:xfrm>
            <a:off x="448001" y="159463"/>
            <a:ext cx="11586453" cy="1325563"/>
          </a:xfrm>
          <a:prstGeom prst="rect">
            <a:avLst/>
          </a:prstGeom>
          <a:solidFill>
            <a:srgbClr val="EB854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Childcare Costs Impact </a:t>
            </a:r>
          </a:p>
          <a:p>
            <a:pPr algn="ctr"/>
            <a:r>
              <a:rPr lang="en-US" sz="4800" b="1" dirty="0"/>
              <a:t>Workforce Participation</a:t>
            </a:r>
            <a:endParaRPr lang="en-US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1EA11-3AE5-FF44-89C3-0C68DC8DC912}"/>
              </a:ext>
            </a:extLst>
          </p:cNvPr>
          <p:cNvSpPr txBox="1"/>
          <p:nvPr/>
        </p:nvSpPr>
        <p:spPr>
          <a:xfrm>
            <a:off x="8489149" y="6384758"/>
            <a:ext cx="354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(U.S. Department of Labor, 2023)</a:t>
            </a:r>
          </a:p>
        </p:txBody>
      </p:sp>
    </p:spTree>
    <p:extLst>
      <p:ext uri="{BB962C8B-B14F-4D97-AF65-F5344CB8AC3E}">
        <p14:creationId xmlns:p14="http://schemas.microsoft.com/office/powerpoint/2010/main" val="904913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140E-4BAD-8DFD-D221-705C7FA6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3F7C7E-B076-7BBE-6830-547EDEDE3B89}"/>
              </a:ext>
            </a:extLst>
          </p:cNvPr>
          <p:cNvSpPr txBox="1">
            <a:spLocks/>
          </p:cNvSpPr>
          <p:nvPr/>
        </p:nvSpPr>
        <p:spPr>
          <a:xfrm>
            <a:off x="448001" y="159463"/>
            <a:ext cx="11586453" cy="1325563"/>
          </a:xfrm>
          <a:prstGeom prst="rect">
            <a:avLst/>
          </a:prstGeom>
          <a:solidFill>
            <a:srgbClr val="EB854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Family Daycare Costs Are Around $100 per Week, with Some Higher-Cost Outliers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93B67C-272C-0D6D-8FE3-0B5D84D68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7560" y="1550895"/>
            <a:ext cx="8596880" cy="5139551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EC4DC81-22EA-0D5A-A2D2-41C685D02776}"/>
              </a:ext>
            </a:extLst>
          </p:cNvPr>
          <p:cNvSpPr txBox="1">
            <a:spLocks/>
          </p:cNvSpPr>
          <p:nvPr/>
        </p:nvSpPr>
        <p:spPr>
          <a:xfrm>
            <a:off x="6920753" y="3101789"/>
            <a:ext cx="3872753" cy="179294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i="1" dirty="0"/>
              <a:t>The Average exceeds the Median, Indicating a Small Number of Higher-Cost Observations</a:t>
            </a:r>
          </a:p>
        </p:txBody>
      </p:sp>
    </p:spTree>
    <p:extLst>
      <p:ext uri="{BB962C8B-B14F-4D97-AF65-F5344CB8AC3E}">
        <p14:creationId xmlns:p14="http://schemas.microsoft.com/office/powerpoint/2010/main" val="3711758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A8779-D173-8C87-8105-2FA89DEA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D44CD4-0C97-DE8E-677A-72E43787FA29}"/>
              </a:ext>
            </a:extLst>
          </p:cNvPr>
          <p:cNvSpPr txBox="1">
            <a:spLocks/>
          </p:cNvSpPr>
          <p:nvPr/>
        </p:nvSpPr>
        <p:spPr>
          <a:xfrm>
            <a:off x="448001" y="159463"/>
            <a:ext cx="11586453" cy="1325563"/>
          </a:xfrm>
          <a:prstGeom prst="rect">
            <a:avLst/>
          </a:prstGeom>
          <a:solidFill>
            <a:srgbClr val="EB854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Infant Care is Consistently the Most Expensive Across High-Cost States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E395BF-400F-911B-8A86-062DF7D7C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439" y="1581451"/>
            <a:ext cx="8855702" cy="5071721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CBB32-B213-363B-B265-7576CF7A5872}"/>
              </a:ext>
            </a:extLst>
          </p:cNvPr>
          <p:cNvSpPr txBox="1">
            <a:spLocks/>
          </p:cNvSpPr>
          <p:nvPr/>
        </p:nvSpPr>
        <p:spPr>
          <a:xfrm>
            <a:off x="8489106" y="3075668"/>
            <a:ext cx="3702894" cy="2123231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i="1" dirty="0"/>
              <a:t>Infant Care Represents the Highest Weekly Cost Across High-Cost States</a:t>
            </a:r>
          </a:p>
        </p:txBody>
      </p:sp>
    </p:spTree>
    <p:extLst>
      <p:ext uri="{BB962C8B-B14F-4D97-AF65-F5344CB8AC3E}">
        <p14:creationId xmlns:p14="http://schemas.microsoft.com/office/powerpoint/2010/main" val="839534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460C-416D-51D0-6438-F1C47766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FA007C5-DF63-54E4-15D2-E85AE3F5FED8}"/>
              </a:ext>
            </a:extLst>
          </p:cNvPr>
          <p:cNvSpPr txBox="1">
            <a:spLocks/>
          </p:cNvSpPr>
          <p:nvPr/>
        </p:nvSpPr>
        <p:spPr>
          <a:xfrm>
            <a:off x="448001" y="159463"/>
            <a:ext cx="11586453" cy="1325563"/>
          </a:xfrm>
          <a:prstGeom prst="rect">
            <a:avLst/>
          </a:prstGeom>
          <a:solidFill>
            <a:srgbClr val="EB854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Childcare Costs Differ Across Regions</a:t>
            </a:r>
            <a:endParaRPr lang="en-US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8E2C11-14C4-7894-3C59-1A9824F5A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1082" y="1684571"/>
            <a:ext cx="8438148" cy="516129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F16D57-665A-8C62-6F29-C70C40EEE257}"/>
              </a:ext>
            </a:extLst>
          </p:cNvPr>
          <p:cNvSpPr txBox="1">
            <a:spLocks/>
          </p:cNvSpPr>
          <p:nvPr/>
        </p:nvSpPr>
        <p:spPr>
          <a:xfrm>
            <a:off x="8789230" y="3428999"/>
            <a:ext cx="3245224" cy="2056771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i="1" dirty="0"/>
              <a:t>Family Daycare Costs are Highest in the Northeast and Lowest in the South</a:t>
            </a:r>
          </a:p>
        </p:txBody>
      </p:sp>
    </p:spTree>
    <p:extLst>
      <p:ext uri="{BB962C8B-B14F-4D97-AF65-F5344CB8AC3E}">
        <p14:creationId xmlns:p14="http://schemas.microsoft.com/office/powerpoint/2010/main" val="2688620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3B335-2498-62E3-E1F3-A71EFE8A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F8A6DB4-1ACD-2849-DA92-7E92CDC24B0C}"/>
              </a:ext>
            </a:extLst>
          </p:cNvPr>
          <p:cNvSpPr txBox="1">
            <a:spLocks/>
          </p:cNvSpPr>
          <p:nvPr/>
        </p:nvSpPr>
        <p:spPr>
          <a:xfrm>
            <a:off x="448001" y="159463"/>
            <a:ext cx="11586453" cy="1325563"/>
          </a:xfrm>
          <a:prstGeom prst="rect">
            <a:avLst/>
          </a:prstGeom>
          <a:solidFill>
            <a:srgbClr val="EB854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Infant Care is the Most Expensive Age Group</a:t>
            </a:r>
            <a:endParaRPr lang="en-US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AD6982-94D3-AEFA-E016-FD039247A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001" y="1748886"/>
            <a:ext cx="7964068" cy="503266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3E4FAA-447D-9E44-971B-EFEB490F4A3C}"/>
              </a:ext>
            </a:extLst>
          </p:cNvPr>
          <p:cNvSpPr txBox="1">
            <a:spLocks/>
          </p:cNvSpPr>
          <p:nvPr/>
        </p:nvSpPr>
        <p:spPr>
          <a:xfrm>
            <a:off x="8465856" y="3007392"/>
            <a:ext cx="3111223" cy="2351605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i="1" dirty="0"/>
              <a:t>Infant Care Costs are Approximately 15% Higher than Toddler and Preschool Care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1E3BF-BACF-BB7C-CB56-9BC1D3B610E4}"/>
              </a:ext>
            </a:extLst>
          </p:cNvPr>
          <p:cNvSpPr txBox="1"/>
          <p:nvPr/>
        </p:nvSpPr>
        <p:spPr>
          <a:xfrm>
            <a:off x="1667435" y="3618889"/>
            <a:ext cx="2725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Highest-Cost Childcare Stage: Infant Care</a:t>
            </a:r>
          </a:p>
        </p:txBody>
      </p:sp>
    </p:spTree>
    <p:extLst>
      <p:ext uri="{BB962C8B-B14F-4D97-AF65-F5344CB8AC3E}">
        <p14:creationId xmlns:p14="http://schemas.microsoft.com/office/powerpoint/2010/main" val="3128543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8CBC-0A07-2652-D7FF-5234D2779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F1F975-3AA2-C483-7BE7-C5F1A54DB47F}"/>
              </a:ext>
            </a:extLst>
          </p:cNvPr>
          <p:cNvSpPr txBox="1">
            <a:spLocks/>
          </p:cNvSpPr>
          <p:nvPr/>
        </p:nvSpPr>
        <p:spPr>
          <a:xfrm>
            <a:off x="448001" y="159463"/>
            <a:ext cx="11586453" cy="1325563"/>
          </a:xfrm>
          <a:prstGeom prst="rect">
            <a:avLst/>
          </a:prstGeom>
          <a:solidFill>
            <a:srgbClr val="EB854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Care Type Creates a Meaningful </a:t>
            </a:r>
          </a:p>
          <a:p>
            <a:pPr algn="ctr"/>
            <a:r>
              <a:rPr lang="en-US" sz="4800" b="1" dirty="0"/>
              <a:t>Cost Gap for Families</a:t>
            </a:r>
            <a:endParaRPr lang="en-US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993ED-191B-72AB-51A2-8A18294E8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854" y="1839967"/>
            <a:ext cx="8423054" cy="412589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6C7A64-6C44-4AC2-1282-13A9CA06E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908" y="2568428"/>
            <a:ext cx="2964226" cy="295005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/>
              <a:t>Center-Based Care Costs More than Family Daycare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2B7ADBC-ECB6-43A4-0EE2-CB528DFAA044}"/>
              </a:ext>
            </a:extLst>
          </p:cNvPr>
          <p:cNvSpPr txBox="1">
            <a:spLocks/>
          </p:cNvSpPr>
          <p:nvPr/>
        </p:nvSpPr>
        <p:spPr>
          <a:xfrm>
            <a:off x="504854" y="6032778"/>
            <a:ext cx="8423054" cy="481264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i="1" dirty="0"/>
              <a:t>+20-25% Higher Cost for Center-Based Care</a:t>
            </a:r>
          </a:p>
        </p:txBody>
      </p:sp>
    </p:spTree>
    <p:extLst>
      <p:ext uri="{BB962C8B-B14F-4D97-AF65-F5344CB8AC3E}">
        <p14:creationId xmlns:p14="http://schemas.microsoft.com/office/powerpoint/2010/main" val="194326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0DCD3-18B2-5E46-7FE1-9E5EBAA0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7632F90-DDCB-0AB1-8EDA-D9260040B254}"/>
              </a:ext>
            </a:extLst>
          </p:cNvPr>
          <p:cNvSpPr txBox="1">
            <a:spLocks/>
          </p:cNvSpPr>
          <p:nvPr/>
        </p:nvSpPr>
        <p:spPr>
          <a:xfrm>
            <a:off x="448001" y="159463"/>
            <a:ext cx="11586453" cy="1325563"/>
          </a:xfrm>
          <a:prstGeom prst="rect">
            <a:avLst/>
          </a:prstGeom>
          <a:solidFill>
            <a:srgbClr val="EB854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Multiple Factors Drive Higher Childcare Costs</a:t>
            </a:r>
            <a:endParaRPr lang="en-US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DDFB94-851B-251A-0609-BA624A659546}"/>
              </a:ext>
            </a:extLst>
          </p:cNvPr>
          <p:cNvSpPr txBox="1">
            <a:spLocks/>
          </p:cNvSpPr>
          <p:nvPr/>
        </p:nvSpPr>
        <p:spPr>
          <a:xfrm>
            <a:off x="5470357" y="2084535"/>
            <a:ext cx="6593307" cy="181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cap="small" dirty="0"/>
              <a:t>combined cost drivers  </a:t>
            </a:r>
          </a:p>
          <a:p>
            <a:pPr marL="0" indent="0" algn="ctr">
              <a:buNone/>
            </a:pPr>
            <a:r>
              <a:rPr lang="en-US" sz="2600" b="1" cap="small" dirty="0"/>
              <a:t>– location, age, and care type – </a:t>
            </a:r>
          </a:p>
          <a:p>
            <a:pPr marL="0" indent="0" algn="ctr">
              <a:buNone/>
            </a:pPr>
            <a:r>
              <a:rPr lang="en-US" sz="2600" b="1" cap="small" dirty="0"/>
              <a:t>create financial strain for working families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BB4F4F-57FB-DACB-0813-14899E5D8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01" y="1813066"/>
            <a:ext cx="5648000" cy="3400618"/>
          </a:xfrm>
        </p:spPr>
        <p:txBody>
          <a:bodyPr>
            <a:normAutofit/>
          </a:bodyPr>
          <a:lstStyle/>
          <a:p>
            <a:r>
              <a:rPr lang="en-US" sz="3400" dirty="0"/>
              <a:t>Costs vary by state and region</a:t>
            </a:r>
          </a:p>
          <a:p>
            <a:r>
              <a:rPr lang="en-US" sz="3400" dirty="0"/>
              <a:t>Infant Care is the most expensive</a:t>
            </a:r>
          </a:p>
          <a:p>
            <a:r>
              <a:rPr lang="en-US" sz="3400" dirty="0"/>
              <a:t>Center-based care increases overall cost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36E53E7-66BA-E01B-4E2A-EBF30CF3EF2F}"/>
              </a:ext>
            </a:extLst>
          </p:cNvPr>
          <p:cNvSpPr txBox="1">
            <a:spLocks/>
          </p:cNvSpPr>
          <p:nvPr/>
        </p:nvSpPr>
        <p:spPr>
          <a:xfrm>
            <a:off x="504854" y="5213684"/>
            <a:ext cx="11382346" cy="1171076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b="1" i="1" dirty="0"/>
              <a:t>Childcare Costs May Impact Workforce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b="1" i="1" dirty="0"/>
              <a:t>Participation and Financial Stability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30376-B3AF-F9E0-5553-C8693017B05A}"/>
              </a:ext>
            </a:extLst>
          </p:cNvPr>
          <p:cNvSpPr txBox="1"/>
          <p:nvPr/>
        </p:nvSpPr>
        <p:spPr>
          <a:xfrm>
            <a:off x="8489149" y="6384758"/>
            <a:ext cx="354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(Child Care Aware of America, 2022)</a:t>
            </a:r>
          </a:p>
        </p:txBody>
      </p:sp>
    </p:spTree>
    <p:extLst>
      <p:ext uri="{BB962C8B-B14F-4D97-AF65-F5344CB8AC3E}">
        <p14:creationId xmlns:p14="http://schemas.microsoft.com/office/powerpoint/2010/main" val="1342412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DEF12-B42C-CBB7-6C20-657A1E1BE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1DCCB5A-ECE8-735F-6C0C-763E45B3F916}"/>
              </a:ext>
            </a:extLst>
          </p:cNvPr>
          <p:cNvSpPr txBox="1">
            <a:spLocks/>
          </p:cNvSpPr>
          <p:nvPr/>
        </p:nvSpPr>
        <p:spPr>
          <a:xfrm>
            <a:off x="448001" y="159463"/>
            <a:ext cx="11586453" cy="1325563"/>
          </a:xfrm>
          <a:prstGeom prst="rect">
            <a:avLst/>
          </a:prstGeom>
          <a:solidFill>
            <a:srgbClr val="EB854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Key Takeaways and Implications</a:t>
            </a:r>
            <a:endParaRPr lang="en-US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75ED21-0783-547E-87AB-70E28665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528" y="5807242"/>
            <a:ext cx="10849397" cy="891295"/>
          </a:xfrm>
          <a:solidFill>
            <a:srgbClr val="FFFF00"/>
          </a:solidFill>
        </p:spPr>
        <p:txBody>
          <a:bodyPr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600" b="1" i="1" dirty="0"/>
              <a:t>Addressing childcare affordability is critical to supporting workforce stability and economic participation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0CB281C-A442-E000-012E-E8D7E7E7EC12}"/>
              </a:ext>
            </a:extLst>
          </p:cNvPr>
          <p:cNvSpPr txBox="1">
            <a:spLocks/>
          </p:cNvSpPr>
          <p:nvPr/>
        </p:nvSpPr>
        <p:spPr>
          <a:xfrm>
            <a:off x="448001" y="1813066"/>
            <a:ext cx="11295998" cy="37856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Childcare costs vary widely across states and regions</a:t>
            </a:r>
          </a:p>
          <a:p>
            <a:r>
              <a:rPr lang="en-US" sz="4400" dirty="0"/>
              <a:t>Infant care and center-based care drive higher costs </a:t>
            </a:r>
          </a:p>
          <a:p>
            <a:r>
              <a:rPr lang="en-US" sz="4400" dirty="0"/>
              <a:t>Childcare costs may act as a barrier to workforce participation</a:t>
            </a:r>
          </a:p>
        </p:txBody>
      </p:sp>
    </p:spTree>
    <p:extLst>
      <p:ext uri="{BB962C8B-B14F-4D97-AF65-F5344CB8AC3E}">
        <p14:creationId xmlns:p14="http://schemas.microsoft.com/office/powerpoint/2010/main" val="1042041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32F2-CDB8-A4D4-8598-C185E0B4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068916F-EEBA-A0A2-D86D-21818BC64D65}"/>
              </a:ext>
            </a:extLst>
          </p:cNvPr>
          <p:cNvSpPr txBox="1">
            <a:spLocks/>
          </p:cNvSpPr>
          <p:nvPr/>
        </p:nvSpPr>
        <p:spPr>
          <a:xfrm>
            <a:off x="448001" y="159463"/>
            <a:ext cx="11586453" cy="1325563"/>
          </a:xfrm>
          <a:prstGeom prst="rect">
            <a:avLst/>
          </a:prstGeom>
          <a:solidFill>
            <a:srgbClr val="EB854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References</a:t>
            </a:r>
            <a:endParaRPr lang="en-US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B9E6081-B985-B73B-6F2F-0F77B0A0B8BE}"/>
              </a:ext>
            </a:extLst>
          </p:cNvPr>
          <p:cNvSpPr txBox="1">
            <a:spLocks/>
          </p:cNvSpPr>
          <p:nvPr/>
        </p:nvSpPr>
        <p:spPr>
          <a:xfrm>
            <a:off x="448001" y="1813066"/>
            <a:ext cx="11586452" cy="44593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U.S. Department of Labor, Women’s Bureau. (2022). </a:t>
            </a:r>
            <a:r>
              <a:rPr lang="en-US" sz="4400" i="1" dirty="0"/>
              <a:t>National database of childcare prices</a:t>
            </a:r>
            <a:r>
              <a:rPr lang="en-US" sz="4400" dirty="0"/>
              <a:t>.</a:t>
            </a:r>
            <a:br>
              <a:rPr lang="en-US" sz="4400" dirty="0"/>
            </a:br>
            <a:r>
              <a:rPr lang="en-US" sz="4400" dirty="0"/>
              <a:t>https://www.dol.gov/agencies/wb/data/childcare-prices</a:t>
            </a:r>
          </a:p>
          <a:p>
            <a:r>
              <a:rPr lang="en-US" sz="4400" dirty="0"/>
              <a:t>Child Care Aware of America. (2022). </a:t>
            </a:r>
            <a:r>
              <a:rPr lang="en-US" sz="4400" i="1" dirty="0"/>
              <a:t>The U.S. and the high price of child care</a:t>
            </a:r>
            <a:r>
              <a:rPr lang="en-US" sz="4400" dirty="0"/>
              <a:t>.</a:t>
            </a:r>
            <a:br>
              <a:rPr lang="en-US" sz="4400" dirty="0"/>
            </a:br>
            <a:r>
              <a:rPr lang="en-US" sz="4400" dirty="0">
                <a:hlinkClick r:id="rId2"/>
              </a:rPr>
              <a:t>https://www.childcareaware.org</a:t>
            </a:r>
            <a:endParaRPr lang="en-US" sz="4400" dirty="0"/>
          </a:p>
          <a:p>
            <a:r>
              <a:rPr lang="en-US" sz="4400" dirty="0"/>
              <a:t>U.S. Department of Labor. (2023). </a:t>
            </a:r>
            <a:r>
              <a:rPr lang="en-US" sz="4400" i="1" dirty="0"/>
              <a:t>Childcare and labor force participation</a:t>
            </a:r>
            <a:r>
              <a:rPr lang="en-US" sz="4400" dirty="0"/>
              <a:t>.</a:t>
            </a:r>
            <a:br>
              <a:rPr lang="en-US" sz="4400" dirty="0"/>
            </a:br>
            <a:r>
              <a:rPr lang="en-US" sz="4400" dirty="0">
                <a:hlinkClick r:id="rId3"/>
              </a:rPr>
              <a:t>https://www.dol.gov</a:t>
            </a:r>
            <a:endParaRPr lang="en-US" sz="4400" dirty="0"/>
          </a:p>
          <a:p>
            <a:r>
              <a:rPr lang="en-US" sz="4400" dirty="0" err="1"/>
              <a:t>Knaflic</a:t>
            </a:r>
            <a:r>
              <a:rPr lang="en-US" sz="4400" dirty="0"/>
              <a:t>, C. N. (2015). </a:t>
            </a:r>
            <a:r>
              <a:rPr lang="en-US" sz="4400" i="1" dirty="0"/>
              <a:t>Storytelling with data: A data visualization guide for business professionals</a:t>
            </a:r>
            <a:r>
              <a:rPr lang="en-US" sz="4400" dirty="0"/>
              <a:t>. Wiley.</a:t>
            </a:r>
          </a:p>
        </p:txBody>
      </p:sp>
    </p:spTree>
    <p:extLst>
      <p:ext uri="{BB962C8B-B14F-4D97-AF65-F5344CB8AC3E}">
        <p14:creationId xmlns:p14="http://schemas.microsoft.com/office/powerpoint/2010/main" val="227474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495</TotalTime>
  <Words>394</Words>
  <Application>Microsoft Office PowerPoint</Application>
  <PresentationFormat>Widescreen</PresentationFormat>
  <Paragraphs>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2013 - 2022 Theme</vt:lpstr>
      <vt:lpstr>Childcare Costs and Economic Strain  Across U.S. States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Ferrill</dc:creator>
  <cp:lastModifiedBy>Teresa Ferrill</cp:lastModifiedBy>
  <cp:revision>25</cp:revision>
  <dcterms:created xsi:type="dcterms:W3CDTF">2026-04-23T00:23:01Z</dcterms:created>
  <dcterms:modified xsi:type="dcterms:W3CDTF">2026-04-25T01:06:00Z</dcterms:modified>
</cp:coreProperties>
</file>